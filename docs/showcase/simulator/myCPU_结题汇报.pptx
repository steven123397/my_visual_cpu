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89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5439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我们做的不是一个只能跑几条指令的解释器，而是一套已经可运行、可调试、可验证的 RISC-V 系统模拟器。开场重点是项目定位：从 ISA 语义一路连到 guest、外设和浏览器实验台。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这一页用来建立听众预期：后面按底层实现、创新点、团队协作三段走。不要在这里展开技术细节，只说明每一段为什么服务于“系统级模拟器”的定位。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最底层是 C++17 模拟器主体，中间是 MMIO 平台和 guest runtime，最上层是 Node debug server 与浏览器 Lab。运行时证据从底层产生，再被前端只读展示。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指令先经过 fetch/decode，再进入共享 InstructionSemantics。它会更新 GPR、CSR、privilege 和 trap 状态；如果访问内存，会经过 Sv39、TLB、Bus，再到 RAM 或 MMIO 设备。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这一页重点讲“底层不是堆 if-else”。我们把语义、状态、地址空间、设备和后端拆开，让功能级正确性和微结构观察能同时存在。Sv39 和统一 Bus 是系统级 bring-up 的基础。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这部分说明项目已经越过裸机程序阶段。自制内核、interactive monitor、xv6 和 Linux-facing probe 都在同一个平台抽象上运行。Linux-facing 要讲边界：已有 boot/probe 和 serial console 路线，但不说完整发行版兼容已经完成。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前端不是装饰，它解决的是系统级项目最难的可观察性问题。我们可以在浏览器里看到终端输出、pipeline 阶段、寄存器变化、外设计数器和 profile 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创新点不是某一个孤立功能，而是把课程项目做成一个平台。共享语义、多后端、系统 bring-up、浏览器 Lab、AI accelerator、JIT/DBT 和验证体系共同支撑这个平台。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这些方向展示了项目的扩展性，但我们保持边界诚实：课程结题时它们是有证据的原型和研究路径，不包装成已经完整商用的功能。AI accelerator 的创新点是设备化，Vector/ML 的创新点是 workload 化，JIT/DBT 是工程化推进。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系统模拟器不能只靠“演示时跑通”。我们把验证拆成多层，既测底层语义，也测 guest 系统和前端服务。Spike differential 的价值是引入外部 oracle，避免模拟器只和自己的预期互相验证。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我们按子系统分工：梁家琦负责总体架构、平台、guest 和前端集成；杨皓宇负责 pipeline 和微结构；余健超负责测试、验证和差分。协作上以 main 为稳定主线，功能通过分支或阶段性 checkpoint 合入，合入前跑对应测试。当前快照可标注 246 commits。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如果用一句话总结，myCPU 已经从课程里的指令集模拟器，成长为一个可以继续做系统结构实验的平台。结尾回到“已完成课程项目，并具备后续研究价值”。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6192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2384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12864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96912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65008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49056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33104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84048"/>
            <a:ext cx="9144000" cy="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768096"/>
            <a:ext cx="9144000" cy="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152144"/>
            <a:ext cx="9144000" cy="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536192"/>
            <a:ext cx="9144000" cy="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304288"/>
            <a:ext cx="9144000" cy="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688336"/>
            <a:ext cx="9144000" cy="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72384"/>
            <a:ext cx="9144000" cy="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456432"/>
            <a:ext cx="9144000" cy="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224528"/>
            <a:ext cx="9144000" cy="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608576"/>
            <a:ext cx="9144000" cy="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992624"/>
            <a:ext cx="9144000" cy="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" y="50292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kern="0" spc="120" dirty="0">
                <a:solidFill>
                  <a:srgbClr val="D9B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计算机系统结构 · 课程项目结题汇报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502920" y="914400"/>
            <a:ext cx="48006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8E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myCPU：基于 RISC-V 的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8E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系统级模拟器设计与实现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530352" y="23591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D2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梁家琦 · 杨皓宇 · 余健超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532120" y="749808"/>
            <a:ext cx="3090672" cy="2331720"/>
          </a:xfrm>
          <a:prstGeom prst="roundRect">
            <a:avLst>
              <a:gd name="adj" fmla="val 3137"/>
            </a:avLst>
          </a:prstGeom>
          <a:solidFill>
            <a:srgbClr val="08151A"/>
          </a:solidFill>
          <a:ln w="10160">
            <a:solidFill>
              <a:srgbClr val="314A50"/>
            </a:solidFill>
            <a:prstDash val="solid"/>
          </a:ln>
          <a:effectLst>
            <a:outerShdw blurRad="63500" dist="1524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678424" y="905256"/>
            <a:ext cx="73152" cy="73152"/>
          </a:xfrm>
          <a:prstGeom prst="ellipse">
            <a:avLst/>
          </a:prstGeom>
          <a:solidFill>
            <a:srgbClr val="D86B49"/>
          </a:solidFill>
          <a:ln w="12700">
            <a:solidFill>
              <a:srgbClr val="D86B49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43016" y="905256"/>
            <a:ext cx="73152" cy="73152"/>
          </a:xfrm>
          <a:prstGeom prst="ellipse">
            <a:avLst/>
          </a:prstGeom>
          <a:solidFill>
            <a:srgbClr val="E6AB50"/>
          </a:solidFill>
          <a:ln w="12700">
            <a:solidFill>
              <a:srgbClr val="E6AB50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07608" y="905256"/>
            <a:ext cx="73152" cy="73152"/>
          </a:xfrm>
          <a:prstGeom prst="ellipse">
            <a:avLst/>
          </a:prstGeom>
          <a:solidFill>
            <a:srgbClr val="1C7780"/>
          </a:solidFill>
          <a:ln w="12700">
            <a:solidFill>
              <a:srgbClr val="1C7780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33288" y="1143000"/>
            <a:ext cx="2706624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ECD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kernel_alpha_demo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CD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KMVPETDS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CD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xv6-riscv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CD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init: starting sh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CD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guest_vector_cnn_demo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CD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V3OK</a:t>
            </a:r>
            <a:endParaRPr lang="en-US" sz="1180" dirty="0"/>
          </a:p>
        </p:txBody>
      </p:sp>
      <p:sp>
        <p:nvSpPr>
          <p:cNvPr id="48" name="Shape 46"/>
          <p:cNvSpPr/>
          <p:nvPr/>
        </p:nvSpPr>
        <p:spPr>
          <a:xfrm>
            <a:off x="530352" y="3273552"/>
            <a:ext cx="2609088" cy="960120"/>
          </a:xfrm>
          <a:prstGeom prst="roundRect">
            <a:avLst>
              <a:gd name="adj" fmla="val 7619"/>
            </a:avLst>
          </a:prstGeom>
          <a:solidFill>
            <a:srgbClr val="FBF8EF"/>
          </a:solidFill>
          <a:ln w="10160">
            <a:solidFill>
              <a:srgbClr val="DED3BE"/>
            </a:solidFill>
            <a:prstDash val="solid"/>
          </a:ln>
          <a:effectLst>
            <a:outerShdw blurRad="44450" dist="1016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30352" y="3273552"/>
            <a:ext cx="50292" cy="960120"/>
          </a:xfrm>
          <a:prstGeom prst="rect">
            <a:avLst/>
          </a:prstGeom>
          <a:solidFill>
            <a:srgbClr val="B35D2F"/>
          </a:solidFill>
          <a:ln w="12700">
            <a:solidFill>
              <a:srgbClr val="B35D2F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6656" y="3392424"/>
            <a:ext cx="2353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b="1" dirty="0">
                <a:solidFill>
                  <a:srgbClr val="1A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</a:t>
            </a:r>
            <a:endParaRPr lang="en-US" sz="1020" dirty="0"/>
          </a:p>
        </p:txBody>
      </p:sp>
      <p:sp>
        <p:nvSpPr>
          <p:cNvPr id="51" name="Text 49"/>
          <p:cNvSpPr/>
          <p:nvPr/>
        </p:nvSpPr>
        <p:spPr>
          <a:xfrm>
            <a:off x="676656" y="3630168"/>
            <a:ext cx="23530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5D6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guest OS / workload 已能在平台上闭环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258312" y="3273552"/>
            <a:ext cx="2609088" cy="960120"/>
          </a:xfrm>
          <a:prstGeom prst="roundRect">
            <a:avLst>
              <a:gd name="adj" fmla="val 7619"/>
            </a:avLst>
          </a:prstGeom>
          <a:solidFill>
            <a:srgbClr val="FBF8EF"/>
          </a:solidFill>
          <a:ln w="10160">
            <a:solidFill>
              <a:srgbClr val="DED3BE"/>
            </a:solidFill>
            <a:prstDash val="solid"/>
          </a:ln>
          <a:effectLst>
            <a:outerShdw blurRad="44450" dist="1016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258312" y="3273552"/>
            <a:ext cx="50292" cy="960120"/>
          </a:xfrm>
          <a:prstGeom prst="rect">
            <a:avLst/>
          </a:prstGeom>
          <a:solidFill>
            <a:srgbClr val="1C7780"/>
          </a:solidFill>
          <a:ln w="12700">
            <a:solidFill>
              <a:srgbClr val="1C7780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04616" y="3392424"/>
            <a:ext cx="2353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b="1" dirty="0">
                <a:solidFill>
                  <a:srgbClr val="1A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可观察</a:t>
            </a:r>
            <a:endParaRPr lang="en-US" sz="1020" dirty="0"/>
          </a:p>
        </p:txBody>
      </p:sp>
      <p:sp>
        <p:nvSpPr>
          <p:cNvPr id="55" name="Text 53"/>
          <p:cNvSpPr/>
          <p:nvPr/>
        </p:nvSpPr>
        <p:spPr>
          <a:xfrm>
            <a:off x="3404616" y="3630168"/>
            <a:ext cx="23530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5D6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terminal、pipeline、CSR、device counters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5986272" y="3273552"/>
            <a:ext cx="2609088" cy="960120"/>
          </a:xfrm>
          <a:prstGeom prst="roundRect">
            <a:avLst>
              <a:gd name="adj" fmla="val 7619"/>
            </a:avLst>
          </a:prstGeom>
          <a:solidFill>
            <a:srgbClr val="FBF8EF"/>
          </a:solidFill>
          <a:ln w="10160">
            <a:solidFill>
              <a:srgbClr val="DED3BE"/>
            </a:solidFill>
            <a:prstDash val="solid"/>
          </a:ln>
          <a:effectLst>
            <a:outerShdw blurRad="44450" dist="1016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986272" y="3273552"/>
            <a:ext cx="50292" cy="960120"/>
          </a:xfrm>
          <a:prstGeom prst="rect">
            <a:avLst/>
          </a:prstGeom>
          <a:solidFill>
            <a:srgbClr val="72371D"/>
          </a:solidFill>
          <a:ln w="12700">
            <a:solidFill>
              <a:srgbClr val="72371D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32576" y="3392424"/>
            <a:ext cx="2353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b="1" dirty="0">
                <a:solidFill>
                  <a:srgbClr val="1A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</a:t>
            </a:r>
            <a:endParaRPr lang="en-US" sz="1020" dirty="0"/>
          </a:p>
        </p:txBody>
      </p:sp>
      <p:sp>
        <p:nvSpPr>
          <p:cNvPr id="59" name="Text 57"/>
          <p:cNvSpPr/>
          <p:nvPr/>
        </p:nvSpPr>
        <p:spPr>
          <a:xfrm>
            <a:off x="6132576" y="3630168"/>
            <a:ext cx="23530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5D6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/ smoke / Spike differential 多层门禁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38912" y="4901184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AA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myCPU RISC-V system simulator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8394192" y="485546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9B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D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619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238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1286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9691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6500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4905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3310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84048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768096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152144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536192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304288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688336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72384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456432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224528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608576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992624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" y="2011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B35D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10-minute route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38912" y="438912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232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汇报内容</a:t>
            </a:r>
            <a:endParaRPr lang="en-US" sz="2500" dirty="0"/>
          </a:p>
        </p:txBody>
      </p:sp>
      <p:sp>
        <p:nvSpPr>
          <p:cNvPr id="42" name="Shape 40"/>
          <p:cNvSpPr/>
          <p:nvPr/>
        </p:nvSpPr>
        <p:spPr>
          <a:xfrm>
            <a:off x="502920" y="1207008"/>
            <a:ext cx="1155192" cy="2322576"/>
          </a:xfrm>
          <a:prstGeom prst="roundRect">
            <a:avLst>
              <a:gd name="adj" fmla="val 6332"/>
            </a:avLst>
          </a:prstGeom>
          <a:solidFill>
            <a:srgbClr val="FBF8EF"/>
          </a:solidFill>
          <a:ln w="10160">
            <a:solidFill>
              <a:srgbClr val="DED3BE"/>
            </a:solidFill>
            <a:prstDash val="solid"/>
          </a:ln>
          <a:effectLst>
            <a:outerShdw blurRad="44450" dist="1016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02920" y="1207008"/>
            <a:ext cx="50292" cy="2322576"/>
          </a:xfrm>
          <a:prstGeom prst="rect">
            <a:avLst/>
          </a:prstGeom>
          <a:solidFill>
            <a:srgbClr val="B35D2F"/>
          </a:solidFill>
          <a:ln w="12700">
            <a:solidFill>
              <a:srgbClr val="B35D2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" y="1325880"/>
            <a:ext cx="899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b="1" dirty="0">
                <a:solidFill>
                  <a:srgbClr val="1A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底层实现</a:t>
            </a:r>
            <a:endParaRPr lang="en-US" sz="1020" dirty="0"/>
          </a:p>
        </p:txBody>
      </p:sp>
      <p:sp>
        <p:nvSpPr>
          <p:cNvPr id="45" name="Text 43"/>
          <p:cNvSpPr/>
          <p:nvPr/>
        </p:nvSpPr>
        <p:spPr>
          <a:xfrm>
            <a:off x="649224" y="1563624"/>
            <a:ext cx="89916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5D6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ISA / CSR / Sv39 / MMIO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D6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functional + pipeline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D6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guest 与前端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776984" y="1207008"/>
            <a:ext cx="1155192" cy="2322576"/>
          </a:xfrm>
          <a:prstGeom prst="roundRect">
            <a:avLst>
              <a:gd name="adj" fmla="val 6332"/>
            </a:avLst>
          </a:prstGeom>
          <a:solidFill>
            <a:srgbClr val="FBF8EF"/>
          </a:solidFill>
          <a:ln w="10160">
            <a:solidFill>
              <a:srgbClr val="DED3BE"/>
            </a:solidFill>
            <a:prstDash val="solid"/>
          </a:ln>
          <a:effectLst>
            <a:outerShdw blurRad="44450" dist="1016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776984" y="1207008"/>
            <a:ext cx="50292" cy="2322576"/>
          </a:xfrm>
          <a:prstGeom prst="rect">
            <a:avLst/>
          </a:prstGeom>
          <a:solidFill>
            <a:srgbClr val="1C7780"/>
          </a:solidFill>
          <a:ln w="12700">
            <a:solidFill>
              <a:srgbClr val="1C7780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23288" y="1325880"/>
            <a:ext cx="899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b="1" dirty="0">
                <a:solidFill>
                  <a:srgbClr val="1A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</a:t>
            </a:r>
            <a:endParaRPr lang="en-US" sz="1020" dirty="0"/>
          </a:p>
        </p:txBody>
      </p:sp>
      <p:sp>
        <p:nvSpPr>
          <p:cNvPr id="49" name="Text 47"/>
          <p:cNvSpPr/>
          <p:nvPr/>
        </p:nvSpPr>
        <p:spPr>
          <a:xfrm>
            <a:off x="1923288" y="1563624"/>
            <a:ext cx="89916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5D6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系统级 bring-up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D6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 Lab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D6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/ JIT / 验证体系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051048" y="1207008"/>
            <a:ext cx="1155192" cy="2322576"/>
          </a:xfrm>
          <a:prstGeom prst="roundRect">
            <a:avLst>
              <a:gd name="adj" fmla="val 6332"/>
            </a:avLst>
          </a:prstGeom>
          <a:solidFill>
            <a:srgbClr val="FBF8EF"/>
          </a:solidFill>
          <a:ln w="10160">
            <a:solidFill>
              <a:srgbClr val="DED3BE"/>
            </a:solidFill>
            <a:prstDash val="solid"/>
          </a:ln>
          <a:effectLst>
            <a:outerShdw blurRad="44450" dist="1016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051048" y="1207008"/>
            <a:ext cx="50292" cy="2322576"/>
          </a:xfrm>
          <a:prstGeom prst="rect">
            <a:avLst/>
          </a:prstGeom>
          <a:solidFill>
            <a:srgbClr val="72371D"/>
          </a:solidFill>
          <a:ln w="12700">
            <a:solidFill>
              <a:srgbClr val="72371D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97352" y="1325880"/>
            <a:ext cx="899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b="1" dirty="0">
                <a:solidFill>
                  <a:srgbClr val="1A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协作方式</a:t>
            </a:r>
            <a:endParaRPr lang="en-US" sz="1020" dirty="0"/>
          </a:p>
        </p:txBody>
      </p:sp>
      <p:sp>
        <p:nvSpPr>
          <p:cNvPr id="53" name="Text 51"/>
          <p:cNvSpPr/>
          <p:nvPr/>
        </p:nvSpPr>
        <p:spPr>
          <a:xfrm>
            <a:off x="3197352" y="1563624"/>
            <a:ext cx="89916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5D6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三人分工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D6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分支与主线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5D6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测试门禁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572000" y="1014984"/>
            <a:ext cx="4069080" cy="2697480"/>
          </a:xfrm>
          <a:prstGeom prst="roundRect">
            <a:avLst>
              <a:gd name="adj" fmla="val 2712"/>
            </a:avLst>
          </a:prstGeom>
          <a:solidFill>
            <a:srgbClr val="F8F0E2"/>
          </a:solidFill>
          <a:ln w="10160">
            <a:solidFill>
              <a:srgbClr val="D7C6AD"/>
            </a:solidFill>
            <a:prstDash val="solid"/>
          </a:ln>
          <a:effectLst>
            <a:outerShdw blurRad="44450" dist="1016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5" name="Image 0" descr="Lab workbench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060704"/>
            <a:ext cx="3977640" cy="2606040"/>
          </a:xfrm>
          <a:prstGeom prst="rect">
            <a:avLst/>
          </a:prstGeom>
        </p:spPr>
      </p:pic>
      <p:sp>
        <p:nvSpPr>
          <p:cNvPr id="56" name="Shape 53"/>
          <p:cNvSpPr/>
          <p:nvPr/>
        </p:nvSpPr>
        <p:spPr>
          <a:xfrm>
            <a:off x="4983480" y="3867912"/>
            <a:ext cx="3310128" cy="310896"/>
          </a:xfrm>
          <a:prstGeom prst="roundRect">
            <a:avLst>
              <a:gd name="adj" fmla="val 23529"/>
            </a:avLst>
          </a:prstGeom>
          <a:solidFill>
            <a:srgbClr val="72371D">
              <a:alpha val="94000"/>
            </a:srgbClr>
          </a:solidFill>
          <a:ln w="12700">
            <a:solidFill>
              <a:srgbClr val="72371D">
                <a:alpha val="0"/>
              </a:srgbClr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093208" y="3954780"/>
            <a:ext cx="3090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min: build -&gt; innovate -&gt; collaborate</a:t>
            </a:r>
            <a:endParaRPr lang="en-US" sz="750" dirty="0"/>
          </a:p>
        </p:txBody>
      </p:sp>
      <p:sp>
        <p:nvSpPr>
          <p:cNvPr id="58" name="Text 55"/>
          <p:cNvSpPr/>
          <p:nvPr/>
        </p:nvSpPr>
        <p:spPr>
          <a:xfrm>
            <a:off x="530352" y="39044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D6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先解释底层怎么搭起来，再讲超出基础解释器的创新点，最后说明三人如何分工和用 Git 保持工程可控。</a:t>
            </a:r>
            <a:endParaRPr lang="en-US" sz="940" dirty="0"/>
          </a:p>
        </p:txBody>
      </p:sp>
      <p:sp>
        <p:nvSpPr>
          <p:cNvPr id="59" name="Text 56"/>
          <p:cNvSpPr/>
          <p:nvPr/>
        </p:nvSpPr>
        <p:spPr>
          <a:xfrm>
            <a:off x="438912" y="4901184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A7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myCPU RISC-V system simulator</a:t>
            </a:r>
            <a:endParaRPr lang="en-US" sz="680" dirty="0"/>
          </a:p>
        </p:txBody>
      </p:sp>
      <p:sp>
        <p:nvSpPr>
          <p:cNvPr id="60" name="Text 57"/>
          <p:cNvSpPr/>
          <p:nvPr/>
        </p:nvSpPr>
        <p:spPr>
          <a:xfrm>
            <a:off x="8394192" y="485546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237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D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619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238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1286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9691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6500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4905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3310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84048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768096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152144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536192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304288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688336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72384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456432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224528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608576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992624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" y="2011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B35D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architecture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38912" y="438912"/>
            <a:ext cx="6766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232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从 ISA 到浏览器：四层闭环</a:t>
            </a:r>
            <a:endParaRPr lang="en-US" sz="2500" dirty="0"/>
          </a:p>
        </p:txBody>
      </p:sp>
      <p:sp>
        <p:nvSpPr>
          <p:cNvPr id="42" name="Shape 40"/>
          <p:cNvSpPr/>
          <p:nvPr/>
        </p:nvSpPr>
        <p:spPr>
          <a:xfrm>
            <a:off x="1069848" y="850392"/>
            <a:ext cx="7004304" cy="3977640"/>
          </a:xfrm>
          <a:prstGeom prst="roundRect">
            <a:avLst>
              <a:gd name="adj" fmla="val 1839"/>
            </a:avLst>
          </a:prstGeom>
          <a:solidFill>
            <a:srgbClr val="F8F0E2"/>
          </a:solidFill>
          <a:ln w="10160">
            <a:solidFill>
              <a:srgbClr val="D7C6AD"/>
            </a:solidFill>
            <a:prstDash val="solid"/>
          </a:ln>
          <a:effectLst>
            <a:outerShdw blurRad="44450" dist="1016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3" name="Image 0" descr="System architecture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896112"/>
            <a:ext cx="6912864" cy="3886200"/>
          </a:xfrm>
          <a:prstGeom prst="rect">
            <a:avLst/>
          </a:prstGeom>
        </p:spPr>
      </p:pic>
      <p:sp>
        <p:nvSpPr>
          <p:cNvPr id="44" name="Shape 41"/>
          <p:cNvSpPr/>
          <p:nvPr/>
        </p:nvSpPr>
        <p:spPr>
          <a:xfrm>
            <a:off x="1481328" y="4343400"/>
            <a:ext cx="6217920" cy="310896"/>
          </a:xfrm>
          <a:prstGeom prst="roundRect">
            <a:avLst>
              <a:gd name="adj" fmla="val 23529"/>
            </a:avLst>
          </a:prstGeom>
          <a:solidFill>
            <a:srgbClr val="0E4F56">
              <a:alpha val="94000"/>
            </a:srgbClr>
          </a:solidFill>
          <a:ln w="12700">
            <a:solidFill>
              <a:srgbClr val="0E4F56">
                <a:alpha val="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591056" y="4430268"/>
            <a:ext cx="5998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 Simulator -&gt; Platform MMIO -&gt; Guest Runtime -&gt; Browser Lab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438912" y="4901184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A7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myCPU RISC-V system simulator</a:t>
            </a:r>
            <a:endParaRPr lang="en-US" sz="680" dirty="0"/>
          </a:p>
        </p:txBody>
      </p:sp>
      <p:sp>
        <p:nvSpPr>
          <p:cNvPr id="47" name="Text 44"/>
          <p:cNvSpPr/>
          <p:nvPr/>
        </p:nvSpPr>
        <p:spPr>
          <a:xfrm>
            <a:off x="8394192" y="485546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237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D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619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238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1286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9691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6500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4905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3310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84048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768096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152144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536192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304288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688336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72384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456432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224528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608576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992624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" y="2011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B35D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 chain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38912" y="438912"/>
            <a:ext cx="6949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232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一条指令如何变成系统行为</a:t>
            </a:r>
            <a:endParaRPr lang="en-US" sz="2500" dirty="0"/>
          </a:p>
        </p:txBody>
      </p:sp>
      <p:sp>
        <p:nvSpPr>
          <p:cNvPr id="42" name="Shape 40"/>
          <p:cNvSpPr/>
          <p:nvPr/>
        </p:nvSpPr>
        <p:spPr>
          <a:xfrm>
            <a:off x="1234440" y="941832"/>
            <a:ext cx="6675120" cy="3794760"/>
          </a:xfrm>
          <a:prstGeom prst="roundRect">
            <a:avLst>
              <a:gd name="adj" fmla="val 1928"/>
            </a:avLst>
          </a:prstGeom>
          <a:solidFill>
            <a:srgbClr val="F8F0E2"/>
          </a:solidFill>
          <a:ln w="10160">
            <a:solidFill>
              <a:srgbClr val="D7C6AD"/>
            </a:solidFill>
            <a:prstDash val="solid"/>
          </a:ln>
          <a:effectLst>
            <a:outerShdw blurRad="44450" dist="1016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3" name="Image 0" descr="Instruction execution fl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987552"/>
            <a:ext cx="6583680" cy="3703320"/>
          </a:xfrm>
          <a:prstGeom prst="rect">
            <a:avLst/>
          </a:prstGeom>
        </p:spPr>
      </p:pic>
      <p:sp>
        <p:nvSpPr>
          <p:cNvPr id="44" name="Shape 41"/>
          <p:cNvSpPr/>
          <p:nvPr/>
        </p:nvSpPr>
        <p:spPr>
          <a:xfrm>
            <a:off x="658368" y="4251959"/>
            <a:ext cx="3611880" cy="525779"/>
          </a:xfrm>
          <a:prstGeom prst="roundRect">
            <a:avLst>
              <a:gd name="adj" fmla="val 16667"/>
            </a:avLst>
          </a:prstGeom>
          <a:solidFill>
            <a:srgbClr val="172126"/>
          </a:solidFill>
          <a:ln w="10160">
            <a:solidFill>
              <a:srgbClr val="33535A"/>
            </a:solidFill>
            <a:prstDash val="solid"/>
          </a:ln>
          <a:effectLst>
            <a:outerShdw blurRad="44450" dist="1016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804672" y="4370832"/>
            <a:ext cx="3355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b="1" dirty="0">
                <a:solidFill>
                  <a:srgbClr val="FFF8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共享语义</a:t>
            </a:r>
            <a:endParaRPr lang="en-US" sz="880" dirty="0"/>
          </a:p>
        </p:txBody>
      </p:sp>
      <p:sp>
        <p:nvSpPr>
          <p:cNvPr id="46" name="Text 43"/>
          <p:cNvSpPr/>
          <p:nvPr/>
        </p:nvSpPr>
        <p:spPr>
          <a:xfrm>
            <a:off x="804672" y="4608576"/>
            <a:ext cx="335584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90" dirty="0">
                <a:solidFill>
                  <a:srgbClr val="C4D2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InstructionSemantics 是正确性基线；pipeline 和 JIT 原型不复制第二套 ISA。</a:t>
            </a:r>
            <a:endParaRPr lang="en-US" sz="690" dirty="0"/>
          </a:p>
        </p:txBody>
      </p:sp>
      <p:sp>
        <p:nvSpPr>
          <p:cNvPr id="47" name="Shape 44"/>
          <p:cNvSpPr/>
          <p:nvPr/>
        </p:nvSpPr>
        <p:spPr>
          <a:xfrm>
            <a:off x="4590288" y="4251960"/>
            <a:ext cx="3493008" cy="525778"/>
          </a:xfrm>
          <a:prstGeom prst="roundRect">
            <a:avLst>
              <a:gd name="adj" fmla="val 16667"/>
            </a:avLst>
          </a:prstGeom>
          <a:solidFill>
            <a:srgbClr val="172126"/>
          </a:solidFill>
          <a:ln w="10160">
            <a:solidFill>
              <a:srgbClr val="33535A"/>
            </a:solidFill>
            <a:prstDash val="solid"/>
          </a:ln>
          <a:effectLst>
            <a:outerShdw blurRad="44450" dist="1016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Text 45"/>
          <p:cNvSpPr/>
          <p:nvPr/>
        </p:nvSpPr>
        <p:spPr>
          <a:xfrm>
            <a:off x="4736592" y="4370832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b="1" dirty="0">
                <a:solidFill>
                  <a:srgbClr val="FFF8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只读观察</a:t>
            </a:r>
            <a:endParaRPr lang="en-US" sz="880" dirty="0"/>
          </a:p>
        </p:txBody>
      </p:sp>
      <p:sp>
        <p:nvSpPr>
          <p:cNvPr id="49" name="Text 46"/>
          <p:cNvSpPr/>
          <p:nvPr/>
        </p:nvSpPr>
        <p:spPr>
          <a:xfrm>
            <a:off x="4736592" y="4608576"/>
            <a:ext cx="323697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90" dirty="0">
                <a:solidFill>
                  <a:srgbClr val="C4D2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debug snapshot 负责展示，不改变执行语义。</a:t>
            </a:r>
            <a:endParaRPr lang="en-US" sz="690" dirty="0"/>
          </a:p>
        </p:txBody>
      </p:sp>
      <p:sp>
        <p:nvSpPr>
          <p:cNvPr id="50" name="Text 47"/>
          <p:cNvSpPr/>
          <p:nvPr/>
        </p:nvSpPr>
        <p:spPr>
          <a:xfrm>
            <a:off x="438912" y="4901184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A7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myCPU RISC-V system simulator</a:t>
            </a:r>
            <a:endParaRPr lang="en-US" sz="680" dirty="0"/>
          </a:p>
        </p:txBody>
      </p:sp>
      <p:sp>
        <p:nvSpPr>
          <p:cNvPr id="51" name="Text 48"/>
          <p:cNvSpPr/>
          <p:nvPr/>
        </p:nvSpPr>
        <p:spPr>
          <a:xfrm>
            <a:off x="8394192" y="485546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237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D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619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238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1286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9691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6500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4905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3310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84048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768096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152144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536192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304288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688336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72384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456432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224528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608576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992624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" y="2011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B35D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implementation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38912" y="438912"/>
            <a:ext cx="5760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232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从解释器走向系统模拟器</a:t>
            </a:r>
            <a:endParaRPr lang="en-US" sz="2500" dirty="0"/>
          </a:p>
        </p:txBody>
      </p:sp>
      <p:sp>
        <p:nvSpPr>
          <p:cNvPr id="42" name="Shape 40"/>
          <p:cNvSpPr/>
          <p:nvPr/>
        </p:nvSpPr>
        <p:spPr>
          <a:xfrm>
            <a:off x="502920" y="1069848"/>
            <a:ext cx="3127248" cy="932688"/>
          </a:xfrm>
          <a:prstGeom prst="roundRect">
            <a:avLst>
              <a:gd name="adj" fmla="val 7843"/>
            </a:avLst>
          </a:prstGeom>
          <a:solidFill>
            <a:srgbClr val="FBF8EF"/>
          </a:solidFill>
          <a:ln w="10160">
            <a:solidFill>
              <a:srgbClr val="DED3BE"/>
            </a:solidFill>
            <a:prstDash val="solid"/>
          </a:ln>
          <a:effectLst>
            <a:outerShdw blurRad="44450" dist="1016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02920" y="1069848"/>
            <a:ext cx="50292" cy="932688"/>
          </a:xfrm>
          <a:prstGeom prst="rect">
            <a:avLst/>
          </a:prstGeom>
          <a:solidFill>
            <a:srgbClr val="B35D2F"/>
          </a:solidFill>
          <a:ln w="12700">
            <a:solidFill>
              <a:srgbClr val="B35D2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" y="1188720"/>
            <a:ext cx="2871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40" b="1" dirty="0">
                <a:solidFill>
                  <a:srgbClr val="1A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ISA 语义</a:t>
            </a:r>
            <a:endParaRPr lang="en-US" sz="1040" dirty="0"/>
          </a:p>
        </p:txBody>
      </p:sp>
      <p:sp>
        <p:nvSpPr>
          <p:cNvPr id="45" name="Text 43"/>
          <p:cNvSpPr/>
          <p:nvPr/>
        </p:nvSpPr>
        <p:spPr>
          <a:xfrm>
            <a:off x="649224" y="1426464"/>
            <a:ext cx="2871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5D6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RV64I / RV64M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5D6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InstructionSemantics 作为真值来源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5D6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functional 先保证正确性</a:t>
            </a:r>
            <a:endParaRPr lang="en-US" sz="730" dirty="0"/>
          </a:p>
        </p:txBody>
      </p:sp>
      <p:sp>
        <p:nvSpPr>
          <p:cNvPr id="46" name="Shape 44"/>
          <p:cNvSpPr/>
          <p:nvPr/>
        </p:nvSpPr>
        <p:spPr>
          <a:xfrm>
            <a:off x="502920" y="2148840"/>
            <a:ext cx="3127248" cy="932688"/>
          </a:xfrm>
          <a:prstGeom prst="roundRect">
            <a:avLst>
              <a:gd name="adj" fmla="val 7843"/>
            </a:avLst>
          </a:prstGeom>
          <a:solidFill>
            <a:srgbClr val="FBF8EF"/>
          </a:solidFill>
          <a:ln w="10160">
            <a:solidFill>
              <a:srgbClr val="DED3BE"/>
            </a:solidFill>
            <a:prstDash val="solid"/>
          </a:ln>
          <a:effectLst>
            <a:outerShdw blurRad="44450" dist="1016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02920" y="2148840"/>
            <a:ext cx="50292" cy="932688"/>
          </a:xfrm>
          <a:prstGeom prst="rect">
            <a:avLst/>
          </a:prstGeom>
          <a:solidFill>
            <a:srgbClr val="1C7780"/>
          </a:solidFill>
          <a:ln w="12700">
            <a:solidFill>
              <a:srgbClr val="1C7780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9224" y="2267712"/>
            <a:ext cx="2871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40" b="1" dirty="0">
                <a:solidFill>
                  <a:srgbClr val="1A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特权与 trap</a:t>
            </a:r>
            <a:endParaRPr lang="en-US" sz="1040" dirty="0"/>
          </a:p>
        </p:txBody>
      </p:sp>
      <p:sp>
        <p:nvSpPr>
          <p:cNvPr id="49" name="Text 47"/>
          <p:cNvSpPr/>
          <p:nvPr/>
        </p:nvSpPr>
        <p:spPr>
          <a:xfrm>
            <a:off x="649224" y="2505456"/>
            <a:ext cx="2871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5D6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/ S / U，trap delegation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5D6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mret / sret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5D6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CSR、异常、中断串成系统路径</a:t>
            </a:r>
            <a:endParaRPr lang="en-US" sz="730" dirty="0"/>
          </a:p>
        </p:txBody>
      </p:sp>
      <p:sp>
        <p:nvSpPr>
          <p:cNvPr id="50" name="Shape 48"/>
          <p:cNvSpPr/>
          <p:nvPr/>
        </p:nvSpPr>
        <p:spPr>
          <a:xfrm>
            <a:off x="502920" y="3227832"/>
            <a:ext cx="3127248" cy="1051560"/>
          </a:xfrm>
          <a:prstGeom prst="roundRect">
            <a:avLst>
              <a:gd name="adj" fmla="val 6957"/>
            </a:avLst>
          </a:prstGeom>
          <a:solidFill>
            <a:srgbClr val="FBF8EF"/>
          </a:solidFill>
          <a:ln w="10160">
            <a:solidFill>
              <a:srgbClr val="DED3BE"/>
            </a:solidFill>
            <a:prstDash val="solid"/>
          </a:ln>
          <a:effectLst>
            <a:outerShdw blurRad="44450" dist="1016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02920" y="3227832"/>
            <a:ext cx="50292" cy="1051560"/>
          </a:xfrm>
          <a:prstGeom prst="rect">
            <a:avLst/>
          </a:prstGeom>
          <a:solidFill>
            <a:srgbClr val="72371D"/>
          </a:solidFill>
          <a:ln w="12700">
            <a:solidFill>
              <a:srgbClr val="72371D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9224" y="3346704"/>
            <a:ext cx="2871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40" b="1" dirty="0">
                <a:solidFill>
                  <a:srgbClr val="1A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Sv39 与平台</a:t>
            </a:r>
            <a:endParaRPr lang="en-US" sz="1040" dirty="0"/>
          </a:p>
        </p:txBody>
      </p:sp>
      <p:sp>
        <p:nvSpPr>
          <p:cNvPr id="53" name="Text 51"/>
          <p:cNvSpPr/>
          <p:nvPr/>
        </p:nvSpPr>
        <p:spPr>
          <a:xfrm>
            <a:off x="649224" y="3584448"/>
            <a:ext cx="2871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5D6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三级页表，TLB，page fault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D6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UART / CLINT / PLIC / block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D6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AddressSpace -&gt; Bus -&gt; RAM / MMIO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3995928" y="1005840"/>
            <a:ext cx="4700016" cy="3364992"/>
          </a:xfrm>
          <a:prstGeom prst="roundRect">
            <a:avLst>
              <a:gd name="adj" fmla="val 2174"/>
            </a:avLst>
          </a:prstGeom>
          <a:solidFill>
            <a:srgbClr val="F8F0E2"/>
          </a:solidFill>
          <a:ln w="10160">
            <a:solidFill>
              <a:srgbClr val="D7C6AD"/>
            </a:solidFill>
            <a:prstDash val="solid"/>
          </a:ln>
          <a:effectLst>
            <a:outerShdw blurRad="44450" dist="1016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5" name="Image 0" descr="Pipeline view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648" y="1051560"/>
            <a:ext cx="4608576" cy="3273552"/>
          </a:xfrm>
          <a:prstGeom prst="rect">
            <a:avLst/>
          </a:prstGeom>
        </p:spPr>
      </p:pic>
      <p:sp>
        <p:nvSpPr>
          <p:cNvPr id="56" name="Shape 53"/>
          <p:cNvSpPr/>
          <p:nvPr/>
        </p:nvSpPr>
        <p:spPr>
          <a:xfrm>
            <a:off x="4407408" y="4507992"/>
            <a:ext cx="1417320" cy="219456"/>
          </a:xfrm>
          <a:prstGeom prst="roundRect">
            <a:avLst>
              <a:gd name="adj" fmla="val 29167"/>
            </a:avLst>
          </a:prstGeom>
          <a:solidFill>
            <a:srgbClr val="B35D2F"/>
          </a:solidFill>
          <a:ln w="6350">
            <a:solidFill>
              <a:srgbClr val="B35D2F">
                <a:alpha val="80000"/>
              </a:srgbClr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480560" y="4558284"/>
            <a:ext cx="1271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functional reference</a:t>
            </a:r>
            <a:endParaRPr lang="en-US" sz="760" dirty="0"/>
          </a:p>
        </p:txBody>
      </p:sp>
      <p:sp>
        <p:nvSpPr>
          <p:cNvPr id="58" name="Shape 55"/>
          <p:cNvSpPr/>
          <p:nvPr/>
        </p:nvSpPr>
        <p:spPr>
          <a:xfrm>
            <a:off x="6016752" y="4507992"/>
            <a:ext cx="1325880" cy="219456"/>
          </a:xfrm>
          <a:prstGeom prst="roundRect">
            <a:avLst>
              <a:gd name="adj" fmla="val 29167"/>
            </a:avLst>
          </a:prstGeom>
          <a:solidFill>
            <a:srgbClr val="1C7780"/>
          </a:solidFill>
          <a:ln w="6350">
            <a:solidFill>
              <a:srgbClr val="1C7780">
                <a:alpha val="80000"/>
              </a:srgbClr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089904" y="4558284"/>
            <a:ext cx="11795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backend</a:t>
            </a:r>
            <a:endParaRPr lang="en-US" sz="760" dirty="0"/>
          </a:p>
        </p:txBody>
      </p:sp>
      <p:sp>
        <p:nvSpPr>
          <p:cNvPr id="60" name="Shape 57"/>
          <p:cNvSpPr/>
          <p:nvPr/>
        </p:nvSpPr>
        <p:spPr>
          <a:xfrm>
            <a:off x="7479792" y="4507992"/>
            <a:ext cx="1097280" cy="219456"/>
          </a:xfrm>
          <a:prstGeom prst="roundRect">
            <a:avLst>
              <a:gd name="adj" fmla="val 29167"/>
            </a:avLst>
          </a:prstGeom>
          <a:solidFill>
            <a:srgbClr val="172126"/>
          </a:solidFill>
          <a:ln w="6350">
            <a:solidFill>
              <a:srgbClr val="172126">
                <a:alpha val="80000"/>
              </a:srgbClr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7552944" y="4558284"/>
            <a:ext cx="950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observable commit</a:t>
            </a:r>
            <a:endParaRPr lang="en-US" sz="760" dirty="0"/>
          </a:p>
        </p:txBody>
      </p:sp>
      <p:sp>
        <p:nvSpPr>
          <p:cNvPr id="62" name="Text 59"/>
          <p:cNvSpPr/>
          <p:nvPr/>
        </p:nvSpPr>
        <p:spPr>
          <a:xfrm>
            <a:off x="438912" y="4901184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A7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myCPU RISC-V system simulator</a:t>
            </a:r>
            <a:endParaRPr lang="en-US" sz="680" dirty="0"/>
          </a:p>
        </p:txBody>
      </p:sp>
      <p:sp>
        <p:nvSpPr>
          <p:cNvPr id="63" name="Text 60"/>
          <p:cNvSpPr/>
          <p:nvPr/>
        </p:nvSpPr>
        <p:spPr>
          <a:xfrm>
            <a:off x="8394192" y="485546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237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D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619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238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1286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9691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6500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4905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3310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84048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768096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152144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536192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304288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688336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72384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456432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224528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608576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992624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" y="2011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B35D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guest bring-up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38912" y="438912"/>
            <a:ext cx="6400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232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能跑系统，才算系统级模拟器</a:t>
            </a:r>
            <a:endParaRPr lang="en-US" sz="2500" dirty="0"/>
          </a:p>
        </p:txBody>
      </p:sp>
      <p:sp>
        <p:nvSpPr>
          <p:cNvPr id="42" name="Shape 40"/>
          <p:cNvSpPr/>
          <p:nvPr/>
        </p:nvSpPr>
        <p:spPr>
          <a:xfrm>
            <a:off x="512064" y="1005840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FBF8EF"/>
          </a:solidFill>
          <a:ln w="10160">
            <a:solidFill>
              <a:srgbClr val="DED3BE"/>
            </a:solidFill>
            <a:prstDash val="solid"/>
          </a:ln>
          <a:effectLst>
            <a:outerShdw blurRad="44450" dist="1016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12064" y="1005840"/>
            <a:ext cx="50292" cy="566928"/>
          </a:xfrm>
          <a:prstGeom prst="rect">
            <a:avLst/>
          </a:prstGeom>
          <a:solidFill>
            <a:srgbClr val="B35D2F"/>
          </a:solidFill>
          <a:ln w="12700">
            <a:solidFill>
              <a:srgbClr val="B35D2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" y="1124712"/>
            <a:ext cx="2990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kernel_alpha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58368" y="1362456"/>
            <a:ext cx="2990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5D6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KMVPETDS：boot / PMM / Sv39 / interrupt / storage</a:t>
            </a:r>
            <a:endParaRPr lang="en-US" sz="680" dirty="0"/>
          </a:p>
        </p:txBody>
      </p:sp>
      <p:sp>
        <p:nvSpPr>
          <p:cNvPr id="46" name="Shape 44"/>
          <p:cNvSpPr/>
          <p:nvPr/>
        </p:nvSpPr>
        <p:spPr>
          <a:xfrm>
            <a:off x="512064" y="1773936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FBF8EF"/>
          </a:solidFill>
          <a:ln w="10160">
            <a:solidFill>
              <a:srgbClr val="DED3BE"/>
            </a:solidFill>
            <a:prstDash val="solid"/>
          </a:ln>
          <a:effectLst>
            <a:outerShdw blurRad="44450" dist="1016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12064" y="1773936"/>
            <a:ext cx="50292" cy="566928"/>
          </a:xfrm>
          <a:prstGeom prst="rect">
            <a:avLst/>
          </a:prstGeom>
          <a:solidFill>
            <a:srgbClr val="1C7780"/>
          </a:solidFill>
          <a:ln w="12700">
            <a:solidFill>
              <a:srgbClr val="1C7780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" y="1892808"/>
            <a:ext cx="2990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interactive_os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58368" y="2130552"/>
            <a:ext cx="2990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5D6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 terminal 可输入命令并观察 UART 回显</a:t>
            </a:r>
            <a:endParaRPr lang="en-US" sz="680" dirty="0"/>
          </a:p>
        </p:txBody>
      </p:sp>
      <p:sp>
        <p:nvSpPr>
          <p:cNvPr id="50" name="Shape 48"/>
          <p:cNvSpPr/>
          <p:nvPr/>
        </p:nvSpPr>
        <p:spPr>
          <a:xfrm>
            <a:off x="512064" y="2542032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FBF8EF"/>
          </a:solidFill>
          <a:ln w="10160">
            <a:solidFill>
              <a:srgbClr val="DED3BE"/>
            </a:solidFill>
            <a:prstDash val="solid"/>
          </a:ln>
          <a:effectLst>
            <a:outerShdw blurRad="44450" dist="1016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12064" y="2542032"/>
            <a:ext cx="50292" cy="566928"/>
          </a:xfrm>
          <a:prstGeom prst="rect">
            <a:avLst/>
          </a:prstGeom>
          <a:solidFill>
            <a:srgbClr val="B35D2F"/>
          </a:solidFill>
          <a:ln w="12700">
            <a:solidFill>
              <a:srgbClr val="B35D2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8368" y="2660904"/>
            <a:ext cx="2990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xv6-riscv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58368" y="2898648"/>
            <a:ext cx="2990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5D6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virtio-blk board path 稳定到 shell</a:t>
            </a:r>
            <a:endParaRPr lang="en-US" sz="680" dirty="0"/>
          </a:p>
        </p:txBody>
      </p:sp>
      <p:sp>
        <p:nvSpPr>
          <p:cNvPr id="54" name="Shape 52"/>
          <p:cNvSpPr/>
          <p:nvPr/>
        </p:nvSpPr>
        <p:spPr>
          <a:xfrm>
            <a:off x="512064" y="3310128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FBF8EF"/>
          </a:solidFill>
          <a:ln w="10160">
            <a:solidFill>
              <a:srgbClr val="DED3BE"/>
            </a:solidFill>
            <a:prstDash val="solid"/>
          </a:ln>
          <a:effectLst>
            <a:outerShdw blurRad="44450" dist="1016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512064" y="3310128"/>
            <a:ext cx="50292" cy="566928"/>
          </a:xfrm>
          <a:prstGeom prst="rect">
            <a:avLst/>
          </a:prstGeom>
          <a:solidFill>
            <a:srgbClr val="1C7780"/>
          </a:solidFill>
          <a:ln w="12700">
            <a:solidFill>
              <a:srgbClr val="1C7780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8368" y="3429000"/>
            <a:ext cx="2990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Linux-facing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58368" y="3666744"/>
            <a:ext cx="2990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5D6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flat image + DTB + rootfs + serial console 路径</a:t>
            </a:r>
            <a:endParaRPr lang="en-US" sz="680" dirty="0"/>
          </a:p>
        </p:txBody>
      </p:sp>
      <p:sp>
        <p:nvSpPr>
          <p:cNvPr id="58" name="Shape 56"/>
          <p:cNvSpPr/>
          <p:nvPr/>
        </p:nvSpPr>
        <p:spPr>
          <a:xfrm>
            <a:off x="4142232" y="941832"/>
            <a:ext cx="4526280" cy="3063240"/>
          </a:xfrm>
          <a:prstGeom prst="roundRect">
            <a:avLst>
              <a:gd name="adj" fmla="val 2388"/>
            </a:avLst>
          </a:prstGeom>
          <a:solidFill>
            <a:srgbClr val="172126"/>
          </a:solidFill>
          <a:ln w="10160">
            <a:solidFill>
              <a:srgbClr val="395258"/>
            </a:solidFill>
            <a:prstDash val="solid"/>
          </a:ln>
          <a:effectLst>
            <a:outerShdw blurRad="44450" dist="1016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9" name="Image 0" descr="Interactive OS termina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952" y="987552"/>
            <a:ext cx="4434840" cy="2971800"/>
          </a:xfrm>
          <a:prstGeom prst="rect">
            <a:avLst/>
          </a:prstGeom>
        </p:spPr>
      </p:pic>
      <p:sp>
        <p:nvSpPr>
          <p:cNvPr id="60" name="Shape 57"/>
          <p:cNvSpPr/>
          <p:nvPr/>
        </p:nvSpPr>
        <p:spPr>
          <a:xfrm>
            <a:off x="4617720" y="4242816"/>
            <a:ext cx="3566160" cy="310896"/>
          </a:xfrm>
          <a:prstGeom prst="roundRect">
            <a:avLst>
              <a:gd name="adj" fmla="val 23529"/>
            </a:avLst>
          </a:prstGeom>
          <a:solidFill>
            <a:srgbClr val="0E4F56">
              <a:alpha val="94000"/>
            </a:srgbClr>
          </a:solidFill>
          <a:ln w="12700">
            <a:solidFill>
              <a:srgbClr val="0E4F56">
                <a:alpha val="0"/>
              </a:srgbClr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727448" y="4329684"/>
            <a:ext cx="3346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platform abstraction, multiple guests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438912" y="4901184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A7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myCPU RISC-V system simulator</a:t>
            </a:r>
            <a:endParaRPr lang="en-US" sz="680" dirty="0"/>
          </a:p>
        </p:txBody>
      </p:sp>
      <p:sp>
        <p:nvSpPr>
          <p:cNvPr id="63" name="Text 60"/>
          <p:cNvSpPr/>
          <p:nvPr/>
        </p:nvSpPr>
        <p:spPr>
          <a:xfrm>
            <a:off x="8394192" y="485546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237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D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619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238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1286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9691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6500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4905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3310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84048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768096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152144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536192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304288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688336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72384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456432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224528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608576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992624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" y="2011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B35D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 lab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38912" y="438912"/>
            <a:ext cx="6583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232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把模拟器变成可观察的实验台</a:t>
            </a:r>
            <a:endParaRPr lang="en-US" sz="2500" dirty="0"/>
          </a:p>
        </p:txBody>
      </p:sp>
      <p:sp>
        <p:nvSpPr>
          <p:cNvPr id="42" name="Shape 40"/>
          <p:cNvSpPr/>
          <p:nvPr/>
        </p:nvSpPr>
        <p:spPr>
          <a:xfrm>
            <a:off x="521208" y="896112"/>
            <a:ext cx="8119872" cy="3364992"/>
          </a:xfrm>
          <a:prstGeom prst="roundRect">
            <a:avLst>
              <a:gd name="adj" fmla="val 2174"/>
            </a:avLst>
          </a:prstGeom>
          <a:solidFill>
            <a:srgbClr val="F8F0E2"/>
          </a:solidFill>
          <a:ln w="10160">
            <a:solidFill>
              <a:srgbClr val="D7C6AD"/>
            </a:solidFill>
            <a:prstDash val="solid"/>
          </a:ln>
          <a:effectLst>
            <a:outerShdw blurRad="44450" dist="1016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3" name="Image 0" descr="Browser lab workbench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941832"/>
            <a:ext cx="8028432" cy="3273552"/>
          </a:xfrm>
          <a:prstGeom prst="rect">
            <a:avLst/>
          </a:prstGeom>
        </p:spPr>
      </p:pic>
      <p:sp>
        <p:nvSpPr>
          <p:cNvPr id="44" name="Shape 41"/>
          <p:cNvSpPr/>
          <p:nvPr/>
        </p:nvSpPr>
        <p:spPr>
          <a:xfrm>
            <a:off x="2286000" y="1481328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172126">
              <a:alpha val="94000"/>
            </a:srgbClr>
          </a:solidFill>
          <a:ln w="12700">
            <a:solidFill>
              <a:srgbClr val="172126">
                <a:alpha val="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395728" y="1568196"/>
            <a:ext cx="923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4315968" y="107899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0E4F56">
              <a:alpha val="94000"/>
            </a:srgbClr>
          </a:solidFill>
          <a:ln w="12700">
            <a:solidFill>
              <a:srgbClr val="0E4F56">
                <a:alpha val="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425696" y="1165860"/>
            <a:ext cx="923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5230368" y="373075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72371D">
              <a:alpha val="94000"/>
            </a:srgbClr>
          </a:solidFill>
          <a:ln w="12700">
            <a:solidFill>
              <a:srgbClr val="72371D">
                <a:alpha val="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340096" y="3817620"/>
            <a:ext cx="923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Registers / CSR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6784848" y="1024128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172126">
              <a:alpha val="94000"/>
            </a:srgbClr>
          </a:solidFill>
          <a:ln w="12700">
            <a:solidFill>
              <a:srgbClr val="172126">
                <a:alpha val="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894576" y="1110996"/>
            <a:ext cx="923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 / AI profile</a:t>
            </a:r>
            <a:endParaRPr lang="en-US" sz="750" dirty="0"/>
          </a:p>
        </p:txBody>
      </p:sp>
      <p:sp>
        <p:nvSpPr>
          <p:cNvPr id="52" name="Text 49"/>
          <p:cNvSpPr/>
          <p:nvPr/>
        </p:nvSpPr>
        <p:spPr>
          <a:xfrm>
            <a:off x="713232" y="440740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10" dirty="0">
                <a:solidFill>
                  <a:srgbClr val="5D6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Load / Run / Pause / Reset / Terminate 控制会话流转；terminal、pipeline、寄存器、CSR、device counters 都从底层证据投射到浏览器。</a:t>
            </a:r>
            <a:endParaRPr lang="en-US" sz="810" dirty="0"/>
          </a:p>
        </p:txBody>
      </p:sp>
      <p:sp>
        <p:nvSpPr>
          <p:cNvPr id="53" name="Text 50"/>
          <p:cNvSpPr/>
          <p:nvPr/>
        </p:nvSpPr>
        <p:spPr>
          <a:xfrm>
            <a:off x="438912" y="4901184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A7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myCPU RISC-V system simulator</a:t>
            </a:r>
            <a:endParaRPr lang="en-US" sz="680" dirty="0"/>
          </a:p>
        </p:txBody>
      </p:sp>
      <p:sp>
        <p:nvSpPr>
          <p:cNvPr id="54" name="Text 51"/>
          <p:cNvSpPr/>
          <p:nvPr/>
        </p:nvSpPr>
        <p:spPr>
          <a:xfrm>
            <a:off x="8394192" y="485546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237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D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619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238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1286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9691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6500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4905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3310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84048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768096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152144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536192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304288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688336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72384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456432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224528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608576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992624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" y="2011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B35D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innovation map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38912" y="438912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232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创新点：可运行、可观察、可验证、可扩展</a:t>
            </a:r>
            <a:endParaRPr lang="en-US" sz="2300" dirty="0"/>
          </a:p>
        </p:txBody>
      </p:sp>
      <p:sp>
        <p:nvSpPr>
          <p:cNvPr id="42" name="Shape 40"/>
          <p:cNvSpPr/>
          <p:nvPr/>
        </p:nvSpPr>
        <p:spPr>
          <a:xfrm>
            <a:off x="1069848" y="832104"/>
            <a:ext cx="7004304" cy="3977640"/>
          </a:xfrm>
          <a:prstGeom prst="roundRect">
            <a:avLst>
              <a:gd name="adj" fmla="val 1839"/>
            </a:avLst>
          </a:prstGeom>
          <a:solidFill>
            <a:srgbClr val="F8F0E2"/>
          </a:solidFill>
          <a:ln w="10160">
            <a:solidFill>
              <a:srgbClr val="D7C6AD"/>
            </a:solidFill>
            <a:prstDash val="solid"/>
          </a:ln>
          <a:effectLst>
            <a:outerShdw blurRad="44450" dist="1016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3" name="Image 0" descr="Innovation ma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877824"/>
            <a:ext cx="6912864" cy="3886200"/>
          </a:xfrm>
          <a:prstGeom prst="rect">
            <a:avLst/>
          </a:prstGeom>
        </p:spPr>
      </p:pic>
      <p:sp>
        <p:nvSpPr>
          <p:cNvPr id="44" name="Shape 41"/>
          <p:cNvSpPr/>
          <p:nvPr/>
        </p:nvSpPr>
        <p:spPr>
          <a:xfrm>
            <a:off x="1517904" y="4407408"/>
            <a:ext cx="1024128" cy="219456"/>
          </a:xfrm>
          <a:prstGeom prst="roundRect">
            <a:avLst>
              <a:gd name="adj" fmla="val 29167"/>
            </a:avLst>
          </a:prstGeom>
          <a:solidFill>
            <a:srgbClr val="B35D2F"/>
          </a:solidFill>
          <a:ln w="6350">
            <a:solidFill>
              <a:srgbClr val="B35D2F">
                <a:alpha val="80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591056" y="4457700"/>
            <a:ext cx="8778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8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</a:t>
            </a:r>
            <a:endParaRPr lang="en-US" sz="760" dirty="0"/>
          </a:p>
        </p:txBody>
      </p:sp>
      <p:sp>
        <p:nvSpPr>
          <p:cNvPr id="46" name="Shape 43"/>
          <p:cNvSpPr/>
          <p:nvPr/>
        </p:nvSpPr>
        <p:spPr>
          <a:xfrm>
            <a:off x="3118104" y="4407408"/>
            <a:ext cx="1024128" cy="219456"/>
          </a:xfrm>
          <a:prstGeom prst="roundRect">
            <a:avLst>
              <a:gd name="adj" fmla="val 29167"/>
            </a:avLst>
          </a:prstGeom>
          <a:solidFill>
            <a:srgbClr val="1C7780"/>
          </a:solidFill>
          <a:ln w="6350">
            <a:solidFill>
              <a:srgbClr val="1C7780">
                <a:alpha val="8000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191256" y="4457700"/>
            <a:ext cx="8778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8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可观察</a:t>
            </a:r>
            <a:endParaRPr lang="en-US" sz="760" dirty="0"/>
          </a:p>
        </p:txBody>
      </p:sp>
      <p:sp>
        <p:nvSpPr>
          <p:cNvPr id="48" name="Shape 45"/>
          <p:cNvSpPr/>
          <p:nvPr/>
        </p:nvSpPr>
        <p:spPr>
          <a:xfrm>
            <a:off x="4718304" y="4407408"/>
            <a:ext cx="1024128" cy="219456"/>
          </a:xfrm>
          <a:prstGeom prst="roundRect">
            <a:avLst>
              <a:gd name="adj" fmla="val 29167"/>
            </a:avLst>
          </a:prstGeom>
          <a:solidFill>
            <a:srgbClr val="72371D"/>
          </a:solidFill>
          <a:ln w="6350">
            <a:solidFill>
              <a:srgbClr val="72371D">
                <a:alpha val="8000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791456" y="4457700"/>
            <a:ext cx="8778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8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</a:t>
            </a:r>
            <a:endParaRPr lang="en-US" sz="760" dirty="0"/>
          </a:p>
        </p:txBody>
      </p:sp>
      <p:sp>
        <p:nvSpPr>
          <p:cNvPr id="50" name="Shape 47"/>
          <p:cNvSpPr/>
          <p:nvPr/>
        </p:nvSpPr>
        <p:spPr>
          <a:xfrm>
            <a:off x="6318504" y="4407408"/>
            <a:ext cx="1024128" cy="219456"/>
          </a:xfrm>
          <a:prstGeom prst="roundRect">
            <a:avLst>
              <a:gd name="adj" fmla="val 29167"/>
            </a:avLst>
          </a:prstGeom>
          <a:solidFill>
            <a:srgbClr val="172126"/>
          </a:solidFill>
          <a:ln w="6350">
            <a:solidFill>
              <a:srgbClr val="172126">
                <a:alpha val="8000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391656" y="4457700"/>
            <a:ext cx="8778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8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</a:t>
            </a:r>
            <a:endParaRPr lang="en-US" sz="760" dirty="0"/>
          </a:p>
        </p:txBody>
      </p:sp>
      <p:sp>
        <p:nvSpPr>
          <p:cNvPr id="52" name="Text 49"/>
          <p:cNvSpPr/>
          <p:nvPr/>
        </p:nvSpPr>
        <p:spPr>
          <a:xfrm>
            <a:off x="438912" y="4901184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A7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myCPU RISC-V system simulator</a:t>
            </a:r>
            <a:endParaRPr lang="en-US" sz="680" dirty="0"/>
          </a:p>
        </p:txBody>
      </p:sp>
      <p:sp>
        <p:nvSpPr>
          <p:cNvPr id="53" name="Text 50"/>
          <p:cNvSpPr/>
          <p:nvPr/>
        </p:nvSpPr>
        <p:spPr>
          <a:xfrm>
            <a:off x="8394192" y="485546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237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D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619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238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1286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9691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6500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4905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3310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84048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768096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152144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536192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304288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688336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72384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456432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224528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608576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992624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" y="2011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B35D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extension paths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38912" y="438912"/>
            <a:ext cx="6217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232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面向后续研究的扩展能力</a:t>
            </a:r>
            <a:endParaRPr lang="en-US" sz="2500" dirty="0"/>
          </a:p>
        </p:txBody>
      </p:sp>
      <p:sp>
        <p:nvSpPr>
          <p:cNvPr id="42" name="Shape 40"/>
          <p:cNvSpPr/>
          <p:nvPr/>
        </p:nvSpPr>
        <p:spPr>
          <a:xfrm>
            <a:off x="502920" y="987552"/>
            <a:ext cx="3218688" cy="960120"/>
          </a:xfrm>
          <a:prstGeom prst="roundRect">
            <a:avLst>
              <a:gd name="adj" fmla="val 7619"/>
            </a:avLst>
          </a:prstGeom>
          <a:solidFill>
            <a:srgbClr val="FBF8EF"/>
          </a:solidFill>
          <a:ln w="10160">
            <a:solidFill>
              <a:srgbClr val="DED3BE"/>
            </a:solidFill>
            <a:prstDash val="solid"/>
          </a:ln>
          <a:effectLst>
            <a:outerShdw blurRad="44450" dist="1016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02920" y="987552"/>
            <a:ext cx="50292" cy="960120"/>
          </a:xfrm>
          <a:prstGeom prst="rect">
            <a:avLst/>
          </a:prstGeom>
          <a:solidFill>
            <a:srgbClr val="B35D2F"/>
          </a:solidFill>
          <a:ln w="12700">
            <a:solidFill>
              <a:srgbClr val="B35D2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" y="1106424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b="1" dirty="0">
                <a:solidFill>
                  <a:srgbClr val="1A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Accelerator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649224" y="1344168"/>
            <a:ext cx="29626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90" dirty="0">
                <a:solidFill>
                  <a:srgbClr val="5D6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MMIO 设备、scratchpad、DMA、profile summary、simulated cycles。亮点是设备级路径，不是 CPU 侧函数调用。</a:t>
            </a:r>
            <a:endParaRPr lang="en-US" sz="690" dirty="0"/>
          </a:p>
        </p:txBody>
      </p:sp>
      <p:sp>
        <p:nvSpPr>
          <p:cNvPr id="46" name="Shape 44"/>
          <p:cNvSpPr/>
          <p:nvPr/>
        </p:nvSpPr>
        <p:spPr>
          <a:xfrm>
            <a:off x="502920" y="2121408"/>
            <a:ext cx="3218688" cy="914400"/>
          </a:xfrm>
          <a:prstGeom prst="roundRect">
            <a:avLst>
              <a:gd name="adj" fmla="val 8000"/>
            </a:avLst>
          </a:prstGeom>
          <a:solidFill>
            <a:srgbClr val="FBF8EF"/>
          </a:solidFill>
          <a:ln w="10160">
            <a:solidFill>
              <a:srgbClr val="DED3BE"/>
            </a:solidFill>
            <a:prstDash val="solid"/>
          </a:ln>
          <a:effectLst>
            <a:outerShdw blurRad="44450" dist="1016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02920" y="2121408"/>
            <a:ext cx="50292" cy="914400"/>
          </a:xfrm>
          <a:prstGeom prst="rect">
            <a:avLst/>
          </a:prstGeom>
          <a:solidFill>
            <a:srgbClr val="1C7780"/>
          </a:solidFill>
          <a:ln w="12700">
            <a:solidFill>
              <a:srgbClr val="1C7780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9224" y="2240280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b="1" dirty="0">
                <a:solidFill>
                  <a:srgbClr val="1A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Vector / ML</a:t>
            </a:r>
            <a:endParaRPr lang="en-US" sz="980" dirty="0"/>
          </a:p>
        </p:txBody>
      </p:sp>
      <p:sp>
        <p:nvSpPr>
          <p:cNvPr id="49" name="Text 47"/>
          <p:cNvSpPr/>
          <p:nvPr/>
        </p:nvSpPr>
        <p:spPr>
          <a:xfrm>
            <a:off x="649224" y="2478024"/>
            <a:ext cx="2962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90" dirty="0">
                <a:solidFill>
                  <a:srgbClr val="5D6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V-lite 指令子集，固定 conv-&gt;relu CNN demo，marker 为 V3OK。亮点是 workload 化。</a:t>
            </a:r>
            <a:endParaRPr lang="en-US" sz="690" dirty="0"/>
          </a:p>
        </p:txBody>
      </p:sp>
      <p:sp>
        <p:nvSpPr>
          <p:cNvPr id="50" name="Shape 48"/>
          <p:cNvSpPr/>
          <p:nvPr/>
        </p:nvSpPr>
        <p:spPr>
          <a:xfrm>
            <a:off x="502920" y="3200400"/>
            <a:ext cx="3218688" cy="914400"/>
          </a:xfrm>
          <a:prstGeom prst="roundRect">
            <a:avLst>
              <a:gd name="adj" fmla="val 8000"/>
            </a:avLst>
          </a:prstGeom>
          <a:solidFill>
            <a:srgbClr val="FBF8EF"/>
          </a:solidFill>
          <a:ln w="10160">
            <a:solidFill>
              <a:srgbClr val="DED3BE"/>
            </a:solidFill>
            <a:prstDash val="solid"/>
          </a:ln>
          <a:effectLst>
            <a:outerShdw blurRad="44450" dist="1016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02920" y="3200400"/>
            <a:ext cx="50292" cy="914400"/>
          </a:xfrm>
          <a:prstGeom prst="rect">
            <a:avLst/>
          </a:prstGeom>
          <a:solidFill>
            <a:srgbClr val="72371D"/>
          </a:solidFill>
          <a:ln w="12700">
            <a:solidFill>
              <a:srgbClr val="72371D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9224" y="3319272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b="1" dirty="0">
                <a:solidFill>
                  <a:srgbClr val="1A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JIT / DBT</a:t>
            </a:r>
            <a:endParaRPr lang="en-US" sz="980" dirty="0"/>
          </a:p>
        </p:txBody>
      </p:sp>
      <p:sp>
        <p:nvSpPr>
          <p:cNvPr id="53" name="Text 51"/>
          <p:cNvSpPr/>
          <p:nvPr/>
        </p:nvSpPr>
        <p:spPr>
          <a:xfrm>
            <a:off x="649224" y="3557016"/>
            <a:ext cx="2962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90" dirty="0">
                <a:solidFill>
                  <a:srgbClr val="5D6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hot-path、IR dry-run、host emitter、opt-in runtime harness。先做 contract 和 guardrail。</a:t>
            </a:r>
            <a:endParaRPr lang="en-US" sz="690" dirty="0"/>
          </a:p>
        </p:txBody>
      </p:sp>
      <p:sp>
        <p:nvSpPr>
          <p:cNvPr id="54" name="Shape 52"/>
          <p:cNvSpPr/>
          <p:nvPr/>
        </p:nvSpPr>
        <p:spPr>
          <a:xfrm>
            <a:off x="4114800" y="914400"/>
            <a:ext cx="4572000" cy="2880360"/>
          </a:xfrm>
          <a:prstGeom prst="roundRect">
            <a:avLst>
              <a:gd name="adj" fmla="val 2540"/>
            </a:avLst>
          </a:prstGeom>
          <a:solidFill>
            <a:srgbClr val="172126"/>
          </a:solidFill>
          <a:ln w="10160">
            <a:solidFill>
              <a:srgbClr val="395258"/>
            </a:solidFill>
            <a:prstDash val="solid"/>
          </a:ln>
          <a:effectLst>
            <a:outerShdw blurRad="44450" dist="1016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5" name="Image 0" descr="AI accelerator tiny model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960120"/>
            <a:ext cx="4480560" cy="2788920"/>
          </a:xfrm>
          <a:prstGeom prst="rect">
            <a:avLst/>
          </a:prstGeom>
        </p:spPr>
      </p:pic>
      <p:sp>
        <p:nvSpPr>
          <p:cNvPr id="56" name="Shape 53"/>
          <p:cNvSpPr/>
          <p:nvPr/>
        </p:nvSpPr>
        <p:spPr>
          <a:xfrm>
            <a:off x="4297680" y="4005072"/>
            <a:ext cx="4160520" cy="493776"/>
          </a:xfrm>
          <a:prstGeom prst="roundRect">
            <a:avLst>
              <a:gd name="adj" fmla="val 14815"/>
            </a:avLst>
          </a:prstGeom>
          <a:solidFill>
            <a:srgbClr val="F4E7D5"/>
          </a:solidFill>
          <a:ln w="10160">
            <a:solidFill>
              <a:srgbClr val="DFB98E"/>
            </a:solidFill>
            <a:prstDash val="solid"/>
          </a:ln>
          <a:effectLst>
            <a:outerShdw blurRad="44450" dist="1016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57" name="Text 54"/>
          <p:cNvSpPr/>
          <p:nvPr/>
        </p:nvSpPr>
        <p:spPr>
          <a:xfrm>
            <a:off x="4443984" y="4123944"/>
            <a:ext cx="3904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70" b="1" dirty="0">
                <a:solidFill>
                  <a:srgbClr val="1A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边界诚实</a:t>
            </a:r>
            <a:endParaRPr lang="en-US" sz="870" dirty="0"/>
          </a:p>
        </p:txBody>
      </p:sp>
      <p:sp>
        <p:nvSpPr>
          <p:cNvPr id="58" name="Text 55"/>
          <p:cNvSpPr/>
          <p:nvPr/>
        </p:nvSpPr>
        <p:spPr>
          <a:xfrm>
            <a:off x="4443984" y="4361688"/>
            <a:ext cx="390448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90" dirty="0">
                <a:solidFill>
                  <a:srgbClr val="5D6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不声称完整商用 NPU、默认 JIT backend 或完整 Linux 发行版兼容。</a:t>
            </a:r>
            <a:endParaRPr lang="en-US" sz="690" dirty="0"/>
          </a:p>
        </p:txBody>
      </p:sp>
      <p:sp>
        <p:nvSpPr>
          <p:cNvPr id="59" name="Text 56"/>
          <p:cNvSpPr/>
          <p:nvPr/>
        </p:nvSpPr>
        <p:spPr>
          <a:xfrm>
            <a:off x="438912" y="4901184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A7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myCPU RISC-V system simulator</a:t>
            </a:r>
            <a:endParaRPr lang="en-US" sz="680" dirty="0"/>
          </a:p>
        </p:txBody>
      </p:sp>
      <p:sp>
        <p:nvSpPr>
          <p:cNvPr id="60" name="Text 57"/>
          <p:cNvSpPr/>
          <p:nvPr/>
        </p:nvSpPr>
        <p:spPr>
          <a:xfrm>
            <a:off x="8394192" y="485546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237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D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619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238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1286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9691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6500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4905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3310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84048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768096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152144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536192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304288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688336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72384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456432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224528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608576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992624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" y="2011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B35D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38912" y="438912"/>
            <a:ext cx="6217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232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如何避免“能跑但不可信”</a:t>
            </a:r>
            <a:endParaRPr lang="en-US" sz="2500" dirty="0"/>
          </a:p>
        </p:txBody>
      </p:sp>
      <p:sp>
        <p:nvSpPr>
          <p:cNvPr id="42" name="Shape 40"/>
          <p:cNvSpPr/>
          <p:nvPr/>
        </p:nvSpPr>
        <p:spPr>
          <a:xfrm>
            <a:off x="713232" y="1133856"/>
            <a:ext cx="1673352" cy="2514600"/>
          </a:xfrm>
          <a:prstGeom prst="roundRect">
            <a:avLst>
              <a:gd name="adj" fmla="val 4372"/>
            </a:avLst>
          </a:prstGeom>
          <a:solidFill>
            <a:srgbClr val="FBF8EF"/>
          </a:solidFill>
          <a:ln w="10160">
            <a:solidFill>
              <a:srgbClr val="D8C7AD"/>
            </a:solidFill>
            <a:prstDash val="solid"/>
          </a:ln>
          <a:effectLst>
            <a:outerShdw blurRad="44450" dist="1016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13232" y="1133856"/>
            <a:ext cx="50292" cy="2514600"/>
          </a:xfrm>
          <a:prstGeom prst="rect">
            <a:avLst/>
          </a:prstGeom>
          <a:solidFill>
            <a:srgbClr val="B35D2F"/>
          </a:solidFill>
          <a:ln w="12700">
            <a:solidFill>
              <a:srgbClr val="B35D2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9536" y="125272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40" b="1" dirty="0">
                <a:solidFill>
                  <a:srgbClr val="1A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Asm / Unit</a:t>
            </a:r>
            <a:endParaRPr lang="en-US" sz="940" dirty="0"/>
          </a:p>
        </p:txBody>
      </p:sp>
      <p:sp>
        <p:nvSpPr>
          <p:cNvPr id="45" name="Text 43"/>
          <p:cNvSpPr/>
          <p:nvPr/>
        </p:nvSpPr>
        <p:spPr>
          <a:xfrm>
            <a:off x="859536" y="1490472"/>
            <a:ext cx="141732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70" dirty="0">
                <a:solidFill>
                  <a:srgbClr val="5D6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指令、loader、MMU、device、helper</a:t>
            </a:r>
            <a:endParaRPr lang="en-US" sz="670" dirty="0"/>
          </a:p>
          <a:p>
            <a:pPr marL="0" indent="0">
              <a:buNone/>
            </a:pPr>
            <a:r>
              <a:rPr lang="en-US" sz="670" dirty="0">
                <a:solidFill>
                  <a:srgbClr val="5D6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锁定最小语义和模块边界</a:t>
            </a:r>
            <a:endParaRPr lang="en-US" sz="670" dirty="0"/>
          </a:p>
        </p:txBody>
      </p:sp>
      <p:sp>
        <p:nvSpPr>
          <p:cNvPr id="46" name="Shape 44"/>
          <p:cNvSpPr/>
          <p:nvPr/>
        </p:nvSpPr>
        <p:spPr>
          <a:xfrm>
            <a:off x="2706624" y="1335024"/>
            <a:ext cx="1673352" cy="2313432"/>
          </a:xfrm>
          <a:prstGeom prst="roundRect">
            <a:avLst>
              <a:gd name="adj" fmla="val 4372"/>
            </a:avLst>
          </a:prstGeom>
          <a:solidFill>
            <a:srgbClr val="FBF8EF"/>
          </a:solidFill>
          <a:ln w="10160">
            <a:solidFill>
              <a:srgbClr val="D8C7AD"/>
            </a:solidFill>
            <a:prstDash val="solid"/>
          </a:ln>
          <a:effectLst>
            <a:outerShdw blurRad="44450" dist="1016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706624" y="1335024"/>
            <a:ext cx="50292" cy="2313432"/>
          </a:xfrm>
          <a:prstGeom prst="rect">
            <a:avLst/>
          </a:prstGeom>
          <a:solidFill>
            <a:srgbClr val="1C7780"/>
          </a:solidFill>
          <a:ln w="12700">
            <a:solidFill>
              <a:srgbClr val="1C7780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52928" y="145389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40" b="1" dirty="0">
                <a:solidFill>
                  <a:srgbClr val="1A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Host Smoke</a:t>
            </a:r>
            <a:endParaRPr lang="en-US" sz="940" dirty="0"/>
          </a:p>
        </p:txBody>
      </p:sp>
      <p:sp>
        <p:nvSpPr>
          <p:cNvPr id="49" name="Text 47"/>
          <p:cNvSpPr/>
          <p:nvPr/>
        </p:nvSpPr>
        <p:spPr>
          <a:xfrm>
            <a:off x="2852928" y="1691640"/>
            <a:ext cx="1417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70" dirty="0">
                <a:solidFill>
                  <a:srgbClr val="5D6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debug CLI、pipeline、JIT、AI profile</a:t>
            </a:r>
            <a:endParaRPr lang="en-US" sz="670" dirty="0"/>
          </a:p>
          <a:p>
            <a:pPr marL="0" indent="0">
              <a:buNone/>
            </a:pPr>
            <a:r>
              <a:rPr lang="en-US" sz="670" dirty="0">
                <a:solidFill>
                  <a:srgbClr val="5D6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验证宿主侧组合路径</a:t>
            </a:r>
            <a:endParaRPr lang="en-US" sz="670" dirty="0"/>
          </a:p>
        </p:txBody>
      </p:sp>
      <p:sp>
        <p:nvSpPr>
          <p:cNvPr id="50" name="Shape 48"/>
          <p:cNvSpPr/>
          <p:nvPr/>
        </p:nvSpPr>
        <p:spPr>
          <a:xfrm>
            <a:off x="4700016" y="1536192"/>
            <a:ext cx="1673352" cy="2112264"/>
          </a:xfrm>
          <a:prstGeom prst="roundRect">
            <a:avLst>
              <a:gd name="adj" fmla="val 4372"/>
            </a:avLst>
          </a:prstGeom>
          <a:solidFill>
            <a:srgbClr val="FBF8EF"/>
          </a:solidFill>
          <a:ln w="10160">
            <a:solidFill>
              <a:srgbClr val="D8C7AD"/>
            </a:solidFill>
            <a:prstDash val="solid"/>
          </a:ln>
          <a:effectLst>
            <a:outerShdw blurRad="44450" dist="1016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00016" y="1536192"/>
            <a:ext cx="50292" cy="2112264"/>
          </a:xfrm>
          <a:prstGeom prst="rect">
            <a:avLst/>
          </a:prstGeom>
          <a:solidFill>
            <a:srgbClr val="72371D"/>
          </a:solidFill>
          <a:ln w="12700">
            <a:solidFill>
              <a:srgbClr val="72371D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165506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40" b="1" dirty="0">
                <a:solidFill>
                  <a:srgbClr val="1A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Guest Smoke</a:t>
            </a:r>
            <a:endParaRPr lang="en-US" sz="940" dirty="0"/>
          </a:p>
        </p:txBody>
      </p:sp>
      <p:sp>
        <p:nvSpPr>
          <p:cNvPr id="53" name="Text 51"/>
          <p:cNvSpPr/>
          <p:nvPr/>
        </p:nvSpPr>
        <p:spPr>
          <a:xfrm>
            <a:off x="4846320" y="1892808"/>
            <a:ext cx="141732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70" dirty="0">
                <a:solidFill>
                  <a:srgbClr val="5D6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kernel_alpha、interactive_os、xv6</a:t>
            </a:r>
            <a:endParaRPr lang="en-US" sz="670" dirty="0"/>
          </a:p>
          <a:p>
            <a:pPr marL="0" indent="0">
              <a:buNone/>
            </a:pPr>
            <a:r>
              <a:rPr lang="en-US" sz="670" dirty="0">
                <a:solidFill>
                  <a:srgbClr val="5D6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验证系统级运行链路</a:t>
            </a:r>
            <a:endParaRPr lang="en-US" sz="670" dirty="0"/>
          </a:p>
        </p:txBody>
      </p:sp>
      <p:sp>
        <p:nvSpPr>
          <p:cNvPr id="54" name="Shape 52"/>
          <p:cNvSpPr/>
          <p:nvPr/>
        </p:nvSpPr>
        <p:spPr>
          <a:xfrm>
            <a:off x="6693408" y="1737360"/>
            <a:ext cx="1673352" cy="1911096"/>
          </a:xfrm>
          <a:prstGeom prst="roundRect">
            <a:avLst>
              <a:gd name="adj" fmla="val 4372"/>
            </a:avLst>
          </a:prstGeom>
          <a:solidFill>
            <a:srgbClr val="172126"/>
          </a:solidFill>
          <a:ln w="10160">
            <a:solidFill>
              <a:srgbClr val="395258"/>
            </a:solidFill>
            <a:prstDash val="solid"/>
          </a:ln>
          <a:effectLst>
            <a:outerShdw blurRad="44450" dist="1016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693408" y="1737360"/>
            <a:ext cx="50292" cy="1911096"/>
          </a:xfrm>
          <a:prstGeom prst="rect">
            <a:avLst/>
          </a:prstGeom>
          <a:solidFill>
            <a:srgbClr val="172126"/>
          </a:solidFill>
          <a:ln w="12700">
            <a:solidFill>
              <a:srgbClr val="172126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39712" y="18562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40" b="1" dirty="0">
                <a:solidFill>
                  <a:srgbClr val="FFF8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External Oracle</a:t>
            </a:r>
            <a:endParaRPr lang="en-US" sz="940" dirty="0"/>
          </a:p>
        </p:txBody>
      </p:sp>
      <p:sp>
        <p:nvSpPr>
          <p:cNvPr id="57" name="Text 55"/>
          <p:cNvSpPr/>
          <p:nvPr/>
        </p:nvSpPr>
        <p:spPr>
          <a:xfrm>
            <a:off x="6839712" y="2093976"/>
            <a:ext cx="141732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70" dirty="0">
                <a:solidFill>
                  <a:srgbClr val="C4D2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Spike differential</a:t>
            </a:r>
            <a:endParaRPr lang="en-US" sz="670" dirty="0"/>
          </a:p>
          <a:p>
            <a:pPr marL="0" indent="0">
              <a:buNone/>
            </a:pPr>
            <a:r>
              <a:rPr lang="en-US" sz="670" dirty="0">
                <a:solidFill>
                  <a:srgbClr val="C4D2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用外部参考实现降低自证风险</a:t>
            </a:r>
            <a:endParaRPr lang="en-US" sz="670" dirty="0"/>
          </a:p>
        </p:txBody>
      </p:sp>
      <p:sp>
        <p:nvSpPr>
          <p:cNvPr id="58" name="Shape 56"/>
          <p:cNvSpPr/>
          <p:nvPr/>
        </p:nvSpPr>
        <p:spPr>
          <a:xfrm>
            <a:off x="777240" y="3977640"/>
            <a:ext cx="7635240" cy="530352"/>
          </a:xfrm>
          <a:prstGeom prst="roundRect">
            <a:avLst>
              <a:gd name="adj" fmla="val 13793"/>
            </a:avLst>
          </a:prstGeom>
          <a:solidFill>
            <a:srgbClr val="08151A"/>
          </a:solidFill>
          <a:ln w="10160">
            <a:solidFill>
              <a:srgbClr val="314A50"/>
            </a:solidFill>
            <a:prstDash val="solid"/>
          </a:ln>
          <a:effectLst>
            <a:outerShdw blurRad="63500" dist="1524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923544" y="4133088"/>
            <a:ext cx="73152" cy="73152"/>
          </a:xfrm>
          <a:prstGeom prst="ellipse">
            <a:avLst/>
          </a:prstGeom>
          <a:solidFill>
            <a:srgbClr val="D86B49"/>
          </a:solidFill>
          <a:ln w="12700">
            <a:solidFill>
              <a:srgbClr val="D86B49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88136" y="4133088"/>
            <a:ext cx="73152" cy="73152"/>
          </a:xfrm>
          <a:prstGeom prst="ellipse">
            <a:avLst/>
          </a:prstGeom>
          <a:solidFill>
            <a:srgbClr val="E6AB50"/>
          </a:solidFill>
          <a:ln w="12700">
            <a:solidFill>
              <a:srgbClr val="E6AB50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252728" y="4133088"/>
            <a:ext cx="73152" cy="73152"/>
          </a:xfrm>
          <a:prstGeom prst="ellipse">
            <a:avLst/>
          </a:prstGeom>
          <a:solidFill>
            <a:srgbClr val="1C7780"/>
          </a:solidFill>
          <a:ln w="12700">
            <a:solidFill>
              <a:srgbClr val="1C7780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78408" y="4370832"/>
            <a:ext cx="7251192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ECD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myCPU &amp;&amp; make test    |    cd myCPU &amp;&amp; make test-pipeline    |    cd frontend &amp;&amp; node --test</a:t>
            </a:r>
            <a:endParaRPr lang="en-US" sz="820" dirty="0"/>
          </a:p>
        </p:txBody>
      </p:sp>
      <p:sp>
        <p:nvSpPr>
          <p:cNvPr id="63" name="Text 61"/>
          <p:cNvSpPr/>
          <p:nvPr/>
        </p:nvSpPr>
        <p:spPr>
          <a:xfrm>
            <a:off x="438912" y="4901184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A7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myCPU RISC-V system simulator</a:t>
            </a:r>
            <a:endParaRPr lang="en-US" sz="680" dirty="0"/>
          </a:p>
        </p:txBody>
      </p:sp>
      <p:sp>
        <p:nvSpPr>
          <p:cNvPr id="64" name="Text 62"/>
          <p:cNvSpPr/>
          <p:nvPr/>
        </p:nvSpPr>
        <p:spPr>
          <a:xfrm>
            <a:off x="8394192" y="485546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237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D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619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238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1286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96912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65008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49056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33104" y="0"/>
            <a:ext cx="0" cy="514350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84048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768096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152144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536192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304288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688336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72384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456432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224528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608576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992624"/>
            <a:ext cx="9144000" cy="0"/>
          </a:xfrm>
          <a:prstGeom prst="line">
            <a:avLst/>
          </a:prstGeom>
          <a:noFill/>
          <a:ln w="3175">
            <a:solidFill>
              <a:srgbClr val="E4D4B8">
                <a:alpha val="3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" y="2011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B35D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workflow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38912" y="438912"/>
            <a:ext cx="6949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232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三人分工：子系统负责，主线集成</a:t>
            </a:r>
            <a:endParaRPr lang="en-US" sz="2500" dirty="0"/>
          </a:p>
        </p:txBody>
      </p:sp>
      <p:sp>
        <p:nvSpPr>
          <p:cNvPr id="42" name="Shape 40"/>
          <p:cNvSpPr/>
          <p:nvPr/>
        </p:nvSpPr>
        <p:spPr>
          <a:xfrm>
            <a:off x="941832" y="886968"/>
            <a:ext cx="7260336" cy="4123944"/>
          </a:xfrm>
          <a:prstGeom prst="roundRect">
            <a:avLst>
              <a:gd name="adj" fmla="val 1774"/>
            </a:avLst>
          </a:prstGeom>
          <a:solidFill>
            <a:srgbClr val="F8F0E2"/>
          </a:solidFill>
          <a:ln w="10160">
            <a:solidFill>
              <a:srgbClr val="D7C6AD"/>
            </a:solidFill>
            <a:prstDash val="solid"/>
          </a:ln>
          <a:effectLst>
            <a:outerShdw blurRad="44450" dist="1016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3" name="Image 0" descr="Team and Git collaboration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932688"/>
            <a:ext cx="7168896" cy="4032504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438912" y="4901184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A7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myCPU RISC-V system simulator</a:t>
            </a:r>
            <a:endParaRPr lang="en-US" sz="680" dirty="0"/>
          </a:p>
        </p:txBody>
      </p:sp>
      <p:sp>
        <p:nvSpPr>
          <p:cNvPr id="45" name="Text 42"/>
          <p:cNvSpPr/>
          <p:nvPr/>
        </p:nvSpPr>
        <p:spPr>
          <a:xfrm>
            <a:off x="8394192" y="485546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237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6192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2384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12864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96912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65008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49056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33104" y="0"/>
            <a:ext cx="0" cy="514350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84048"/>
            <a:ext cx="9144000" cy="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768096"/>
            <a:ext cx="9144000" cy="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152144"/>
            <a:ext cx="9144000" cy="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536192"/>
            <a:ext cx="9144000" cy="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304288"/>
            <a:ext cx="9144000" cy="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688336"/>
            <a:ext cx="9144000" cy="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72384"/>
            <a:ext cx="9144000" cy="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456432"/>
            <a:ext cx="9144000" cy="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224528"/>
            <a:ext cx="9144000" cy="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608576"/>
            <a:ext cx="9144000" cy="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992624"/>
            <a:ext cx="9144000" cy="0"/>
          </a:xfrm>
          <a:prstGeom prst="line">
            <a:avLst/>
          </a:prstGeom>
          <a:noFill/>
          <a:ln w="3175">
            <a:solidFill>
              <a:srgbClr val="264149">
                <a:alpha val="28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" y="2011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D9B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closing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38912" y="438912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8E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结题总结</a:t>
            </a:r>
            <a:endParaRPr lang="en-US" sz="2800" dirty="0"/>
          </a:p>
        </p:txBody>
      </p:sp>
      <p:sp>
        <p:nvSpPr>
          <p:cNvPr id="42" name="Shape 40"/>
          <p:cNvSpPr/>
          <p:nvPr/>
        </p:nvSpPr>
        <p:spPr>
          <a:xfrm>
            <a:off x="566928" y="1133856"/>
            <a:ext cx="4389120" cy="512064"/>
          </a:xfrm>
          <a:prstGeom prst="roundRect">
            <a:avLst>
              <a:gd name="adj" fmla="val 14286"/>
            </a:avLst>
          </a:prstGeom>
          <a:solidFill>
            <a:srgbClr val="172126"/>
          </a:solidFill>
          <a:ln w="10160">
            <a:solidFill>
              <a:srgbClr val="355157"/>
            </a:solidFill>
            <a:prstDash val="solid"/>
          </a:ln>
          <a:effectLst>
            <a:outerShdw blurRad="44450" dist="1016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49808" y="1261872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B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78992" y="123444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CDF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我们完成了一套已可运行的 RISC-V 系统模拟器原型。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66928" y="1892808"/>
            <a:ext cx="4389120" cy="512064"/>
          </a:xfrm>
          <a:prstGeom prst="roundRect">
            <a:avLst>
              <a:gd name="adj" fmla="val 14286"/>
            </a:avLst>
          </a:prstGeom>
          <a:solidFill>
            <a:srgbClr val="10262C"/>
          </a:solidFill>
          <a:ln w="10160">
            <a:solidFill>
              <a:srgbClr val="1C7780"/>
            </a:solidFill>
            <a:prstDash val="solid"/>
          </a:ln>
          <a:effectLst>
            <a:outerShdw blurRad="44450" dist="1016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49808" y="2020824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D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78992" y="1993392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CDF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它不只解释指令，还能支撑特权级、虚拟内存、外设、guest OS、真实 workload 和浏览器调试。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66928" y="2651760"/>
            <a:ext cx="4389120" cy="512064"/>
          </a:xfrm>
          <a:prstGeom prst="roundRect">
            <a:avLst>
              <a:gd name="adj" fmla="val 14286"/>
            </a:avLst>
          </a:prstGeom>
          <a:solidFill>
            <a:srgbClr val="172126"/>
          </a:solidFill>
          <a:ln w="10160">
            <a:solidFill>
              <a:srgbClr val="355157"/>
            </a:solidFill>
            <a:prstDash val="solid"/>
          </a:ln>
          <a:effectLst>
            <a:outerShdw blurRad="44450" dist="1016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49808" y="2779776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B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78992" y="2752344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CDF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后续可继续沿 Linux 发行版平台、AI accelerator、JIT/DBT、cache / 多核方向演进。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577840" y="1060704"/>
            <a:ext cx="2880360" cy="2414016"/>
          </a:xfrm>
          <a:prstGeom prst="roundRect">
            <a:avLst>
              <a:gd name="adj" fmla="val 3030"/>
            </a:avLst>
          </a:prstGeom>
          <a:solidFill>
            <a:srgbClr val="08151A"/>
          </a:solidFill>
          <a:ln w="10160">
            <a:solidFill>
              <a:srgbClr val="314A50"/>
            </a:solidFill>
            <a:prstDash val="solid"/>
          </a:ln>
          <a:effectLst>
            <a:outerShdw blurRad="63500" dist="1524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724144" y="1216152"/>
            <a:ext cx="73152" cy="73152"/>
          </a:xfrm>
          <a:prstGeom prst="ellipse">
            <a:avLst/>
          </a:prstGeom>
          <a:solidFill>
            <a:srgbClr val="D86B49"/>
          </a:solidFill>
          <a:ln w="12700">
            <a:solidFill>
              <a:srgbClr val="D86B49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888736" y="1216152"/>
            <a:ext cx="73152" cy="73152"/>
          </a:xfrm>
          <a:prstGeom prst="ellipse">
            <a:avLst/>
          </a:prstGeom>
          <a:solidFill>
            <a:srgbClr val="E6AB50"/>
          </a:solidFill>
          <a:ln w="12700">
            <a:solidFill>
              <a:srgbClr val="E6AB50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53328" y="1216152"/>
            <a:ext cx="73152" cy="73152"/>
          </a:xfrm>
          <a:prstGeom prst="ellipse">
            <a:avLst/>
          </a:prstGeom>
          <a:solidFill>
            <a:srgbClr val="1C7780"/>
          </a:solidFill>
          <a:ln w="12700">
            <a:solidFill>
              <a:srgbClr val="1C7780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79008" y="1453896"/>
            <a:ext cx="24963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ECD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make test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ECD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ECD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xv6-riscv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ECD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init: starting sh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ECD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kernel_alpha_demo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ECD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KMVPETDS</a:t>
            </a:r>
            <a:endParaRPr lang="en-US" sz="1110" dirty="0"/>
          </a:p>
        </p:txBody>
      </p:sp>
      <p:sp>
        <p:nvSpPr>
          <p:cNvPr id="56" name="Text 54"/>
          <p:cNvSpPr/>
          <p:nvPr/>
        </p:nvSpPr>
        <p:spPr>
          <a:xfrm>
            <a:off x="621792" y="3794760"/>
            <a:ext cx="7726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8E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从课程里的指令集模拟器，成长为可以继续做系统结构实验的平台。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438912" y="4901184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AA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myCPU RISC-V system simulator</a:t>
            </a:r>
            <a:endParaRPr lang="en-US" sz="680" dirty="0"/>
          </a:p>
        </p:txBody>
      </p:sp>
      <p:sp>
        <p:nvSpPr>
          <p:cNvPr id="58" name="Text 56"/>
          <p:cNvSpPr/>
          <p:nvPr/>
        </p:nvSpPr>
        <p:spPr>
          <a:xfrm>
            <a:off x="8394192" y="485546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9B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imSu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847</Words>
  <Application>Microsoft Office PowerPoint</Application>
  <PresentationFormat>全屏显示(16:9)</PresentationFormat>
  <Paragraphs>172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SimSun</vt:lpstr>
      <vt:lpstr>Microsoft YaHei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myCPU course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myCPU：基于 RISC-V 的系统级模拟器设计与实现</dc:title>
  <dc:subject>RISC-V system simulator final presentation</dc:subject>
  <dc:creator>Codex</dc:creator>
  <cp:lastModifiedBy>家琦 梁</cp:lastModifiedBy>
  <cp:revision>2</cp:revision>
  <dcterms:created xsi:type="dcterms:W3CDTF">2026-05-10T07:41:08Z</dcterms:created>
  <dcterms:modified xsi:type="dcterms:W3CDTF">2026-05-10T07:48:11Z</dcterms:modified>
</cp:coreProperties>
</file>